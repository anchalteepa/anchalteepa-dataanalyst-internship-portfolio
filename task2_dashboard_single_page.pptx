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chal Teepa" userId="676c9b16d5f014c2" providerId="LiveId" clId="{DCD057E9-51C8-413A-B9A9-41AD296F9BFA}"/>
    <pc:docChg chg="modSld">
      <pc:chgData name="Anchal Teepa" userId="676c9b16d5f014c2" providerId="LiveId" clId="{DCD057E9-51C8-413A-B9A9-41AD296F9BFA}" dt="2026-08-12T06:56:30.333" v="1" actId="27918"/>
      <pc:docMkLst>
        <pc:docMk/>
      </pc:docMkLst>
      <pc:sldChg chg="mod">
        <pc:chgData name="Anchal Teepa" userId="676c9b16d5f014c2" providerId="LiveId" clId="{DCD057E9-51C8-413A-B9A9-41AD296F9BFA}" dt="2026-08-12T06:56:30.333" v="1" actId="27918"/>
        <pc:sldMkLst>
          <pc:docMk/>
          <pc:sldMk cId="0" sldId="256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225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Fashion</c:v>
                </c:pt>
                <c:pt idx="1">
                  <c:v>Furniture</c:v>
                </c:pt>
                <c:pt idx="2">
                  <c:v>Grocery</c:v>
                </c:pt>
                <c:pt idx="3">
                  <c:v>Education</c:v>
                </c:pt>
                <c:pt idx="4">
                  <c:v>Electronics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1.98</c:v>
                </c:pt>
                <c:pt idx="1">
                  <c:v>2.15</c:v>
                </c:pt>
                <c:pt idx="2">
                  <c:v>2.2200000000000002</c:v>
                </c:pt>
                <c:pt idx="3">
                  <c:v>2.5</c:v>
                </c:pt>
                <c:pt idx="4">
                  <c:v>5.08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21-4C24-B79E-F78AEDE70CB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3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DEF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E73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31750" cap="flat">
              <a:solidFill>
                <a:srgbClr val="F9A82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9A826"/>
              </a:solidFill>
              <a:ln w="9525" cap="flat">
                <a:solidFill>
                  <a:srgbClr val="F9A826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109.1</c:v>
                </c:pt>
                <c:pt idx="1">
                  <c:v>115.1</c:v>
                </c:pt>
                <c:pt idx="2">
                  <c:v>130.6</c:v>
                </c:pt>
                <c:pt idx="3">
                  <c:v>122.2</c:v>
                </c:pt>
                <c:pt idx="4">
                  <c:v>109.8</c:v>
                </c:pt>
                <c:pt idx="5">
                  <c:v>129.1</c:v>
                </c:pt>
                <c:pt idx="6">
                  <c:v>117.5</c:v>
                </c:pt>
                <c:pt idx="7">
                  <c:v>94.5</c:v>
                </c:pt>
                <c:pt idx="8">
                  <c:v>91.8</c:v>
                </c:pt>
                <c:pt idx="9">
                  <c:v>125</c:v>
                </c:pt>
                <c:pt idx="10">
                  <c:v>126.3</c:v>
                </c:pt>
                <c:pt idx="11">
                  <c:v>123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207-4662-9C51-743BE67EA2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3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F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E73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2225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Gaya</c:v>
                </c:pt>
                <c:pt idx="1">
                  <c:v>Pune</c:v>
                </c:pt>
                <c:pt idx="2">
                  <c:v>Delhi</c:v>
                </c:pt>
                <c:pt idx="3">
                  <c:v>Hyderabad</c:v>
                </c:pt>
                <c:pt idx="4">
                  <c:v>Mumbai</c:v>
                </c:pt>
                <c:pt idx="5">
                  <c:v>Bengaluru</c:v>
                </c:pt>
                <c:pt idx="6">
                  <c:v>Kolkata</c:v>
                </c:pt>
                <c:pt idx="7">
                  <c:v>Patna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1.44</c:v>
                </c:pt>
                <c:pt idx="1">
                  <c:v>1.45</c:v>
                </c:pt>
                <c:pt idx="2">
                  <c:v>1.61</c:v>
                </c:pt>
                <c:pt idx="3">
                  <c:v>1.72</c:v>
                </c:pt>
                <c:pt idx="4">
                  <c:v>1.88</c:v>
                </c:pt>
                <c:pt idx="5">
                  <c:v>1.88</c:v>
                </c:pt>
                <c:pt idx="6">
                  <c:v>1.89</c:v>
                </c:pt>
                <c:pt idx="7">
                  <c:v>1.93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5C-4983-947A-56B48F5F67B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E73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DEF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E73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F9A82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225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18-25</c:v>
                </c:pt>
                <c:pt idx="1">
                  <c:v>26-35</c:v>
                </c:pt>
                <c:pt idx="2">
                  <c:v>36-45</c:v>
                </c:pt>
                <c:pt idx="3">
                  <c:v>46-55</c:v>
                </c:pt>
                <c:pt idx="4">
                  <c:v>56-65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2.23</c:v>
                </c:pt>
                <c:pt idx="1">
                  <c:v>2.96</c:v>
                </c:pt>
                <c:pt idx="2">
                  <c:v>3.15</c:v>
                </c:pt>
                <c:pt idx="3">
                  <c:v>2.82</c:v>
                </c:pt>
                <c:pt idx="4">
                  <c:v>2.77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5C-4280-B65F-7C9D00A7BE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E73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F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E73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0517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 Dashboard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2560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2025  |  All Regions  |  All Categories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159813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69848"/>
            <a:ext cx="215981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₹13.94 Cr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65760" y="1490472"/>
            <a:ext cx="215981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90165" y="960120"/>
            <a:ext cx="2159813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0165" y="1069848"/>
            <a:ext cx="215981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690165" y="1490472"/>
            <a:ext cx="215981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14570" y="960120"/>
            <a:ext cx="2159813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4570" y="1069848"/>
            <a:ext cx="215981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₹1.39 L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014570" y="1490472"/>
            <a:ext cx="215981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38974" y="960120"/>
            <a:ext cx="2159813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38974" y="1069848"/>
            <a:ext cx="215981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5,435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338974" y="1490472"/>
            <a:ext cx="215981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663379" y="960120"/>
            <a:ext cx="2159813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63379" y="1069848"/>
            <a:ext cx="215981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947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663379" y="1490472"/>
            <a:ext cx="215981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1965960"/>
            <a:ext cx="379476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039112"/>
            <a:ext cx="3465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 (₹ Cr)</a:t>
            </a:r>
            <a:endParaRPr lang="en-US" sz="115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457200" y="2331720"/>
          <a:ext cx="361188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Shape 20"/>
          <p:cNvSpPr/>
          <p:nvPr/>
        </p:nvSpPr>
        <p:spPr>
          <a:xfrm>
            <a:off x="4343400" y="1965960"/>
            <a:ext cx="7479792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07992" y="2039112"/>
            <a:ext cx="7150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(₹ Lakh)</a:t>
            </a:r>
            <a:endParaRPr lang="en-US" sz="1150" dirty="0"/>
          </a:p>
        </p:txBody>
      </p:sp>
      <p:graphicFrame>
        <p:nvGraphicFramePr>
          <p:cNvPr id="25" name="Chart 1"/>
          <p:cNvGraphicFramePr/>
          <p:nvPr/>
        </p:nvGraphicFramePr>
        <p:xfrm>
          <a:off x="4434840" y="2331720"/>
          <a:ext cx="7296912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6" name="Shape 22"/>
          <p:cNvSpPr/>
          <p:nvPr/>
        </p:nvSpPr>
        <p:spPr>
          <a:xfrm>
            <a:off x="365760" y="4434840"/>
            <a:ext cx="379476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30352" y="4507992"/>
            <a:ext cx="3465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City (₹ Cr)</a:t>
            </a:r>
            <a:endParaRPr lang="en-US" sz="1150" dirty="0"/>
          </a:p>
        </p:txBody>
      </p:sp>
      <p:graphicFrame>
        <p:nvGraphicFramePr>
          <p:cNvPr id="28" name="Chart 2"/>
          <p:cNvGraphicFramePr/>
          <p:nvPr/>
        </p:nvGraphicFramePr>
        <p:xfrm>
          <a:off x="457200" y="4800600"/>
          <a:ext cx="361188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9" name="Shape 24"/>
          <p:cNvSpPr/>
          <p:nvPr/>
        </p:nvSpPr>
        <p:spPr>
          <a:xfrm>
            <a:off x="4343400" y="4434840"/>
            <a:ext cx="36118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507992" y="4507992"/>
            <a:ext cx="3282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Age Group (₹ Cr)</a:t>
            </a:r>
            <a:endParaRPr lang="en-US" sz="1150" dirty="0"/>
          </a:p>
        </p:txBody>
      </p:sp>
      <p:graphicFrame>
        <p:nvGraphicFramePr>
          <p:cNvPr id="31" name="Chart 3"/>
          <p:cNvGraphicFramePr/>
          <p:nvPr>
            <p:extLst>
              <p:ext uri="{D42A27DB-BD31-4B8C-83A1-F6EECF244321}">
                <p14:modId xmlns:p14="http://schemas.microsoft.com/office/powerpoint/2010/main" val="1791293366"/>
              </p:ext>
            </p:extLst>
          </p:nvPr>
        </p:nvGraphicFramePr>
        <p:xfrm>
          <a:off x="4434840" y="4800600"/>
          <a:ext cx="342900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2" name="Shape 26"/>
          <p:cNvSpPr/>
          <p:nvPr/>
        </p:nvSpPr>
        <p:spPr>
          <a:xfrm>
            <a:off x="8092440" y="4434840"/>
            <a:ext cx="3730752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CE1EE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8257032" y="4507992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Products by Revenue</a:t>
            </a:r>
            <a:endParaRPr lang="en-US" sz="11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7032" y="4818888"/>
          <a:ext cx="3401568" cy="1700784"/>
        </p:xfrm>
        <a:graphic>
          <a:graphicData uri="http://schemas.openxmlformats.org/drawingml/2006/table">
            <a:tbl>
              <a:tblPr/>
              <a:tblGrid>
                <a:gridCol w="1870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07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(₹ 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254.4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253.4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225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5" name="Text 28"/>
          <p:cNvSpPr/>
          <p:nvPr/>
        </p:nvSpPr>
        <p:spPr>
          <a:xfrm>
            <a:off x="365760" y="6656832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E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note: 13 orders (1.3%) carry City = "Unknown" from upstream imputation — excluded from city-level figures.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</Words>
  <Application>Microsoft Office PowerPoint</Application>
  <PresentationFormat>Widescreen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Anchal Teepa</cp:lastModifiedBy>
  <cp:revision>1</cp:revision>
  <dcterms:created xsi:type="dcterms:W3CDTF">2026-08-11T18:18:13Z</dcterms:created>
  <dcterms:modified xsi:type="dcterms:W3CDTF">2026-08-12T06:56:38Z</dcterms:modified>
</cp:coreProperties>
</file>