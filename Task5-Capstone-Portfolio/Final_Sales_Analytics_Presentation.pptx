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A192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4748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Laptop</c:v>
                  </c:pt>
                  <c:pt idx="1">
                    <c:v>Mobile</c:v>
                  </c:pt>
                  <c:pt idx="2">
                    <c:v>Book</c:v>
                  </c:pt>
                  <c:pt idx="3">
                    <c:v>Rice</c:v>
                  </c:pt>
                  <c:pt idx="4">
                    <c:v>Chair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2.54</c:v>
                </c:pt>
                <c:pt idx="1">
                  <c:v>2.53</c:v>
                </c:pt>
                <c:pt idx="2">
                  <c:v>2.5</c:v>
                </c:pt>
                <c:pt idx="3">
                  <c:v>2.22</c:v>
                </c:pt>
                <c:pt idx="4">
                  <c:v>2.15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400" u="none">
                  <a:solidFill>
                    <a:srgbClr val="64748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A192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4748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1.93</c:v>
                </c:pt>
                <c:pt idx="1">
                  <c:v>1.89</c:v>
                </c:pt>
                <c:pt idx="2">
                  <c:v>1.88</c:v>
                </c:pt>
                <c:pt idx="3">
                  <c:v>1.88</c:v>
                </c:pt>
                <c:pt idx="4">
                  <c:v>1.72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400" u="none">
                  <a:solidFill>
                    <a:srgbClr val="64748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1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8"/>
              </a:solidFill>
              <a:effectLst/>
            </c:spPr>
          </c:dPt>
          <c:dPt>
            <c:idx val="1"/>
            <c:bubble3D val="0"/>
            <c:spPr>
              <a:solidFill>
                <a:srgbClr val="0A192F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Inter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66.3</c:v>
                </c:pt>
                <c:pt idx="1">
                  <c:v>26.3</c:v>
                </c:pt>
                <c:pt idx="2">
                  <c:v>7.4</c:v>
                </c:pt>
              </c:numCache>
            </c:numRef>
          </c:val>
        </c:ser>
        <c:firstSliceAng val="0"/>
        <c:holeSize val="63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rgbClr val="0A192F"/>
            </a:solidFill>
            <a:ln w="38100" cap="flat">
              <a:solidFill>
                <a:srgbClr val="0A192F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1.09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1.15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1.31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1.22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1.10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1.29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1.17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0.94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0.92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1.25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1.26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64748B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64748B"/>
                        </a:solidFill>
                        <a:latin typeface="Inter"/>
                      </a:rPr>
                      <a:t>1.23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4748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192F"/>
              </a:solidFill>
              <a:ln w="9525" cap="flat">
                <a:solidFill>
                  <a:srgbClr val="0A19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1.09</c:v>
                </c:pt>
                <c:pt idx="1">
                  <c:v>1.15</c:v>
                </c:pt>
                <c:pt idx="2">
                  <c:v>1.31</c:v>
                </c:pt>
                <c:pt idx="3">
                  <c:v>1.22</c:v>
                </c:pt>
                <c:pt idx="4">
                  <c:v>1.1</c:v>
                </c:pt>
                <c:pt idx="5">
                  <c:v>1.29</c:v>
                </c:pt>
                <c:pt idx="6">
                  <c:v>1.17</c:v>
                </c:pt>
                <c:pt idx="7">
                  <c:v>0.94</c:v>
                </c:pt>
                <c:pt idx="8">
                  <c:v>0.92</c:v>
                </c:pt>
                <c:pt idx="9">
                  <c:v>1.25</c:v>
                </c:pt>
                <c:pt idx="10">
                  <c:v>1.26</c:v>
                </c:pt>
                <c:pt idx="11">
                  <c:v>1.23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64748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.8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Inter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Inter"/>
                  </a:rPr>
                  <a:t>Revenue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image" Target="../media/image-2-6.png"/><Relationship Id="rId10" Type="http://schemas.openxmlformats.org/officeDocument/2006/relationships/image" Target="../media/image-2-6.png"/><Relationship Id="rId11" Type="http://schemas.openxmlformats.org/officeDocument/2006/relationships/image" Target="../media/image-2-6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image-tint"/>
          <p:cNvSpPr/>
          <p:nvPr/>
        </p:nvSpPr>
        <p:spPr>
          <a:xfrm>
            <a:off x="9144000" y="0"/>
            <a:ext cx="7112000" cy="9144000"/>
          </a:xfrm>
          <a:prstGeom prst="rect">
            <a:avLst/>
          </a:prstGeom>
          <a:solidFill>
            <a:srgbClr val="0A192F">
              <a:alpha val="12000"/>
            </a:srgbClr>
          </a:solidFill>
          <a:ln/>
        </p:spPr>
      </p:sp>
      <p:pic>
        <p:nvPicPr>
          <p:cNvPr id="3" name="cover-analytics-wave" descr="preencoded.png">    </p:cNvPr>
          <p:cNvPicPr>
            <a:picLocks noChangeAspect="1"/>
          </p:cNvPicPr>
          <p:nvPr/>
        </p:nvPicPr>
        <p:blipFill>
          <a:blip r:embed="rId1"/>
          <a:srcRect l="30556" r="30556" t="0" b="0"/>
          <a:stretch/>
        </p:blipFill>
        <p:spPr>
          <a:xfrm>
            <a:off x="9144000" y="0"/>
            <a:ext cx="7112000" cy="9144000"/>
          </a:xfrm>
          <a:prstGeom prst="rect">
            <a:avLst/>
          </a:prstGeom>
        </p:spPr>
      </p:pic>
      <p:sp>
        <p:nvSpPr>
          <p:cNvPr id="4" name="cover-image-overlay"/>
          <p:cNvSpPr/>
          <p:nvPr/>
        </p:nvSpPr>
        <p:spPr>
          <a:xfrm>
            <a:off x="9144000" y="0"/>
            <a:ext cx="7112000" cy="9144000"/>
          </a:xfrm>
          <a:prstGeom prst="rect">
            <a:avLst/>
          </a:prstGeom>
          <a:solidFill>
            <a:srgbClr val="0A192F">
              <a:alpha val="38000"/>
            </a:srgbClr>
          </a:solidFill>
          <a:ln/>
        </p:spPr>
      </p:sp>
      <p:sp>
        <p:nvSpPr>
          <p:cNvPr id="5" name="cover-accent"/>
          <p:cNvSpPr/>
          <p:nvPr/>
        </p:nvSpPr>
        <p:spPr>
          <a:xfrm>
            <a:off x="762000" y="1803400"/>
            <a:ext cx="1117600" cy="762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cover-title"/>
          <p:cNvSpPr/>
          <p:nvPr/>
        </p:nvSpPr>
        <p:spPr>
          <a:xfrm>
            <a:off x="762000" y="2222500"/>
            <a:ext cx="7747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altLang="en-US" sz="4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Analytics: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altLang="en-US" sz="4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to Business Decisions</a:t>
            </a:r>
            <a:endParaRPr lang="en-US" sz="4600" dirty="0"/>
          </a:p>
        </p:txBody>
      </p:sp>
      <p:sp>
        <p:nvSpPr>
          <p:cNvPr id="7" name="cover-subtitle"/>
          <p:cNvSpPr/>
          <p:nvPr/>
        </p:nvSpPr>
        <p:spPr>
          <a:xfrm>
            <a:off x="762000" y="4267200"/>
            <a:ext cx="673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Storytelling &amp; Statistical Validation</a:t>
            </a:r>
            <a:endParaRPr lang="en-US" sz="2300" dirty="0"/>
          </a:p>
        </p:txBody>
      </p:sp>
      <p:sp>
        <p:nvSpPr>
          <p:cNvPr id="8" name="cover-divider"/>
          <p:cNvSpPr/>
          <p:nvPr/>
        </p:nvSpPr>
        <p:spPr>
          <a:xfrm>
            <a:off x="762000" y="6096000"/>
            <a:ext cx="1524000" cy="9144"/>
          </a:xfrm>
          <a:prstGeom prst="lin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9" name="cover-presenter"/>
          <p:cNvSpPr/>
          <p:nvPr/>
        </p:nvSpPr>
        <p:spPr>
          <a:xfrm>
            <a:off x="762000" y="6477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Anchal Teepa</a:t>
            </a:r>
            <a:endParaRPr lang="en-US" sz="2000" dirty="0"/>
          </a:p>
        </p:txBody>
      </p:sp>
      <p:sp>
        <p:nvSpPr>
          <p:cNvPr id="10" name="cover-task"/>
          <p:cNvSpPr/>
          <p:nvPr/>
        </p:nvSpPr>
        <p:spPr>
          <a:xfrm>
            <a:off x="762000" y="69596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to decisions</a:t>
            </a:r>
            <a:endParaRPr lang="en-US" sz="30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kpi-revenue-card"/>
          <p:cNvSpPr/>
          <p:nvPr/>
        </p:nvSpPr>
        <p:spPr>
          <a:xfrm>
            <a:off x="762000" y="1549400"/>
            <a:ext cx="2743200" cy="1651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5" name="kpi-revenu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778000"/>
            <a:ext cx="304800" cy="304800"/>
          </a:xfrm>
          <a:prstGeom prst="rect">
            <a:avLst/>
          </a:prstGeom>
        </p:spPr>
      </p:pic>
      <p:sp>
        <p:nvSpPr>
          <p:cNvPr id="6" name="kpi-revenue-label"/>
          <p:cNvSpPr/>
          <p:nvPr/>
        </p:nvSpPr>
        <p:spPr>
          <a:xfrm>
            <a:off x="990600" y="2184400"/>
            <a:ext cx="218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kpi-revenue-value"/>
          <p:cNvSpPr/>
          <p:nvPr/>
        </p:nvSpPr>
        <p:spPr>
          <a:xfrm>
            <a:off x="990600" y="2540000"/>
            <a:ext cx="22606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₹13.94 Cr</a:t>
            </a:r>
            <a:endParaRPr lang="en-US" sz="3200" dirty="0"/>
          </a:p>
        </p:txBody>
      </p:sp>
      <p:sp>
        <p:nvSpPr>
          <p:cNvPr id="8" name="kpi-orders-card"/>
          <p:cNvSpPr/>
          <p:nvPr/>
        </p:nvSpPr>
        <p:spPr>
          <a:xfrm>
            <a:off x="3759200" y="1549400"/>
            <a:ext cx="2743200" cy="165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kpi-orders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0" y="1778000"/>
            <a:ext cx="304800" cy="304800"/>
          </a:xfrm>
          <a:prstGeom prst="rect">
            <a:avLst/>
          </a:prstGeom>
        </p:spPr>
      </p:pic>
      <p:sp>
        <p:nvSpPr>
          <p:cNvPr id="10" name="kpi-orders-label"/>
          <p:cNvSpPr/>
          <p:nvPr/>
        </p:nvSpPr>
        <p:spPr>
          <a:xfrm>
            <a:off x="3987800" y="2184400"/>
            <a:ext cx="218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1" name="kpi-orders-value"/>
          <p:cNvSpPr/>
          <p:nvPr/>
        </p:nvSpPr>
        <p:spPr>
          <a:xfrm>
            <a:off x="3987800" y="2540000"/>
            <a:ext cx="22606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kpi-aov-card"/>
          <p:cNvSpPr/>
          <p:nvPr/>
        </p:nvSpPr>
        <p:spPr>
          <a:xfrm>
            <a:off x="6756400" y="1549400"/>
            <a:ext cx="2743200" cy="165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kpi-aov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778000"/>
            <a:ext cx="304800" cy="304800"/>
          </a:xfrm>
          <a:prstGeom prst="rect">
            <a:avLst/>
          </a:prstGeom>
        </p:spPr>
      </p:pic>
      <p:sp>
        <p:nvSpPr>
          <p:cNvPr id="14" name="kpi-aov-label"/>
          <p:cNvSpPr/>
          <p:nvPr/>
        </p:nvSpPr>
        <p:spPr>
          <a:xfrm>
            <a:off x="6985000" y="2184400"/>
            <a:ext cx="218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5" name="kpi-aov-value"/>
          <p:cNvSpPr/>
          <p:nvPr/>
        </p:nvSpPr>
        <p:spPr>
          <a:xfrm>
            <a:off x="6985000" y="2540000"/>
            <a:ext cx="22606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₹139K</a:t>
            </a:r>
            <a:endParaRPr lang="en-US" sz="3200" dirty="0"/>
          </a:p>
        </p:txBody>
      </p:sp>
      <p:sp>
        <p:nvSpPr>
          <p:cNvPr id="16" name="kpi-customers-card"/>
          <p:cNvSpPr/>
          <p:nvPr/>
        </p:nvSpPr>
        <p:spPr>
          <a:xfrm>
            <a:off x="9753600" y="1549400"/>
            <a:ext cx="2743200" cy="165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kpi-customers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778000"/>
            <a:ext cx="304800" cy="304800"/>
          </a:xfrm>
          <a:prstGeom prst="rect">
            <a:avLst/>
          </a:prstGeom>
        </p:spPr>
      </p:pic>
      <p:sp>
        <p:nvSpPr>
          <p:cNvPr id="18" name="kpi-customers-label"/>
          <p:cNvSpPr/>
          <p:nvPr/>
        </p:nvSpPr>
        <p:spPr>
          <a:xfrm>
            <a:off x="9982200" y="2184400"/>
            <a:ext cx="218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19" name="kpi-customers-value"/>
          <p:cNvSpPr/>
          <p:nvPr/>
        </p:nvSpPr>
        <p:spPr>
          <a:xfrm>
            <a:off x="9982200" y="2540000"/>
            <a:ext cx="22606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947</a:t>
            </a:r>
            <a:endParaRPr lang="en-US" sz="3200" dirty="0"/>
          </a:p>
        </p:txBody>
      </p:sp>
      <p:sp>
        <p:nvSpPr>
          <p:cNvPr id="20" name="kpi-rpc-card"/>
          <p:cNvSpPr/>
          <p:nvPr/>
        </p:nvSpPr>
        <p:spPr>
          <a:xfrm>
            <a:off x="12750800" y="1549400"/>
            <a:ext cx="2743200" cy="165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kpi-rpc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9400" y="1778000"/>
            <a:ext cx="304800" cy="304800"/>
          </a:xfrm>
          <a:prstGeom prst="rect">
            <a:avLst/>
          </a:prstGeom>
        </p:spPr>
      </p:pic>
      <p:sp>
        <p:nvSpPr>
          <p:cNvPr id="22" name="kpi-rpc-label"/>
          <p:cNvSpPr/>
          <p:nvPr/>
        </p:nvSpPr>
        <p:spPr>
          <a:xfrm>
            <a:off x="12979400" y="2184400"/>
            <a:ext cx="218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/ CUSTOMER</a:t>
            </a:r>
            <a:endParaRPr lang="en-US" sz="1400" dirty="0"/>
          </a:p>
        </p:txBody>
      </p:sp>
      <p:sp>
        <p:nvSpPr>
          <p:cNvPr id="23" name="kpi-rpc-value"/>
          <p:cNvSpPr/>
          <p:nvPr/>
        </p:nvSpPr>
        <p:spPr>
          <a:xfrm>
            <a:off x="12979400" y="2540000"/>
            <a:ext cx="22606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₹147K</a:t>
            </a:r>
            <a:endParaRPr lang="en-US" sz="3200" dirty="0"/>
          </a:p>
        </p:txBody>
      </p:sp>
      <p:sp>
        <p:nvSpPr>
          <p:cNvPr id="24" name="journey-label"/>
          <p:cNvSpPr/>
          <p:nvPr/>
        </p:nvSpPr>
        <p:spPr>
          <a:xfrm>
            <a:off x="762000" y="36322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JOURNEY</a:t>
            </a:r>
            <a:endParaRPr lang="en-US" sz="1800" dirty="0"/>
          </a:p>
        </p:txBody>
      </p:sp>
      <p:sp>
        <p:nvSpPr>
          <p:cNvPr id="25" name="step-1"/>
          <p:cNvSpPr/>
          <p:nvPr/>
        </p:nvSpPr>
        <p:spPr>
          <a:xfrm>
            <a:off x="7620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tep-1-text"/>
          <p:cNvSpPr/>
          <p:nvPr/>
        </p:nvSpPr>
        <p:spPr>
          <a:xfrm>
            <a:off x="8636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en-US" sz="1500" dirty="0"/>
          </a:p>
        </p:txBody>
      </p:sp>
      <p:pic>
        <p:nvPicPr>
          <p:cNvPr id="27" name="arrow-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4559300"/>
            <a:ext cx="228600" cy="228600"/>
          </a:xfrm>
          <a:prstGeom prst="rect">
            <a:avLst/>
          </a:prstGeom>
        </p:spPr>
      </p:pic>
      <p:sp>
        <p:nvSpPr>
          <p:cNvPr id="28" name="step-2"/>
          <p:cNvSpPr/>
          <p:nvPr/>
        </p:nvSpPr>
        <p:spPr>
          <a:xfrm>
            <a:off x="28956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tep-2-text"/>
          <p:cNvSpPr/>
          <p:nvPr/>
        </p:nvSpPr>
        <p:spPr>
          <a:xfrm>
            <a:off x="29972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</a:t>
            </a:r>
            <a:endParaRPr lang="en-US" sz="1500" dirty="0"/>
          </a:p>
        </p:txBody>
      </p:sp>
      <p:pic>
        <p:nvPicPr>
          <p:cNvPr id="30" name="arrow-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100" y="4559300"/>
            <a:ext cx="228600" cy="228600"/>
          </a:xfrm>
          <a:prstGeom prst="rect">
            <a:avLst/>
          </a:prstGeom>
        </p:spPr>
      </p:pic>
      <p:sp>
        <p:nvSpPr>
          <p:cNvPr id="31" name="step-3"/>
          <p:cNvSpPr/>
          <p:nvPr/>
        </p:nvSpPr>
        <p:spPr>
          <a:xfrm>
            <a:off x="50292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tep-3-text"/>
          <p:cNvSpPr/>
          <p:nvPr/>
        </p:nvSpPr>
        <p:spPr>
          <a:xfrm>
            <a:off x="51308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1500" dirty="0"/>
          </a:p>
        </p:txBody>
      </p:sp>
      <p:pic>
        <p:nvPicPr>
          <p:cNvPr id="33" name="arrow-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700" y="4559300"/>
            <a:ext cx="228600" cy="228600"/>
          </a:xfrm>
          <a:prstGeom prst="rect">
            <a:avLst/>
          </a:prstGeom>
        </p:spPr>
      </p:pic>
      <p:sp>
        <p:nvSpPr>
          <p:cNvPr id="34" name="step-4"/>
          <p:cNvSpPr/>
          <p:nvPr/>
        </p:nvSpPr>
        <p:spPr>
          <a:xfrm>
            <a:off x="71628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tep-4-text"/>
          <p:cNvSpPr/>
          <p:nvPr/>
        </p:nvSpPr>
        <p:spPr>
          <a:xfrm>
            <a:off x="72644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</a:t>
            </a:r>
            <a:endParaRPr lang="en-US" sz="1500" dirty="0"/>
          </a:p>
        </p:txBody>
      </p:sp>
      <p:pic>
        <p:nvPicPr>
          <p:cNvPr id="36" name="arrow-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4300" y="4559300"/>
            <a:ext cx="228600" cy="228600"/>
          </a:xfrm>
          <a:prstGeom prst="rect">
            <a:avLst/>
          </a:prstGeom>
        </p:spPr>
      </p:pic>
      <p:sp>
        <p:nvSpPr>
          <p:cNvPr id="37" name="step-5"/>
          <p:cNvSpPr/>
          <p:nvPr/>
        </p:nvSpPr>
        <p:spPr>
          <a:xfrm>
            <a:off x="92964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tep-5-text"/>
          <p:cNvSpPr/>
          <p:nvPr/>
        </p:nvSpPr>
        <p:spPr>
          <a:xfrm>
            <a:off x="93980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500" dirty="0"/>
          </a:p>
        </p:txBody>
      </p:sp>
      <p:pic>
        <p:nvPicPr>
          <p:cNvPr id="39" name="arrow-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7900" y="4559300"/>
            <a:ext cx="228600" cy="228600"/>
          </a:xfrm>
          <a:prstGeom prst="rect">
            <a:avLst/>
          </a:prstGeom>
        </p:spPr>
      </p:pic>
      <p:sp>
        <p:nvSpPr>
          <p:cNvPr id="40" name="step-6"/>
          <p:cNvSpPr/>
          <p:nvPr/>
        </p:nvSpPr>
        <p:spPr>
          <a:xfrm>
            <a:off x="11430000" y="4140200"/>
            <a:ext cx="1778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tep-6-text"/>
          <p:cNvSpPr/>
          <p:nvPr/>
        </p:nvSpPr>
        <p:spPr>
          <a:xfrm>
            <a:off x="11531600" y="4267200"/>
            <a:ext cx="15748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500" dirty="0"/>
          </a:p>
        </p:txBody>
      </p:sp>
      <p:pic>
        <p:nvPicPr>
          <p:cNvPr id="42" name="arrow-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71500" y="4559300"/>
            <a:ext cx="228600" cy="228600"/>
          </a:xfrm>
          <a:prstGeom prst="rect">
            <a:avLst/>
          </a:prstGeom>
        </p:spPr>
      </p:pic>
      <p:sp>
        <p:nvSpPr>
          <p:cNvPr id="43" name="step-7"/>
          <p:cNvSpPr/>
          <p:nvPr/>
        </p:nvSpPr>
        <p:spPr>
          <a:xfrm>
            <a:off x="13563600" y="4140200"/>
            <a:ext cx="1930400" cy="1219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44" name="step-7-text"/>
          <p:cNvSpPr/>
          <p:nvPr/>
        </p:nvSpPr>
        <p:spPr>
          <a:xfrm>
            <a:off x="13665200" y="4267200"/>
            <a:ext cx="1727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45" name="objective-panel"/>
          <p:cNvSpPr/>
          <p:nvPr/>
        </p:nvSpPr>
        <p:spPr>
          <a:xfrm>
            <a:off x="762000" y="6019800"/>
            <a:ext cx="14732000" cy="1854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objective-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600" y="6527800"/>
            <a:ext cx="609600" cy="609600"/>
          </a:xfrm>
          <a:prstGeom prst="rect">
            <a:avLst/>
          </a:prstGeom>
        </p:spPr>
      </p:pic>
      <p:sp>
        <p:nvSpPr>
          <p:cNvPr id="47" name="objective-heading"/>
          <p:cNvSpPr/>
          <p:nvPr/>
        </p:nvSpPr>
        <p:spPr>
          <a:xfrm>
            <a:off x="2082800" y="63246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OBJECTIVE</a:t>
            </a:r>
            <a:endParaRPr lang="en-US" sz="1800" dirty="0"/>
          </a:p>
        </p:txBody>
      </p:sp>
      <p:sp>
        <p:nvSpPr>
          <p:cNvPr id="48" name="objective-copy"/>
          <p:cNvSpPr/>
          <p:nvPr/>
        </p:nvSpPr>
        <p:spPr>
          <a:xfrm>
            <a:off x="2082800" y="6756400"/>
            <a:ext cx="1270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sales and customer data to identify revenue performance, customer behavior, product performance, geographic trends, statistical validation, and business growth opportunities.</a:t>
            </a:r>
            <a:endParaRPr lang="en-US" sz="2000" dirty="0"/>
          </a:p>
        </p:txBody>
      </p:sp>
      <p:sp>
        <p:nvSpPr>
          <p:cNvPr id="49" name="footer-note"/>
          <p:cNvSpPr/>
          <p:nvPr/>
        </p:nvSpPr>
        <p:spPr>
          <a:xfrm>
            <a:off x="762000" y="8610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50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and geography identify the strongest growth pockets</a:t>
            </a:r>
            <a:endParaRPr lang="en-US" sz="29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products-heading"/>
          <p:cNvSpPr/>
          <p:nvPr/>
        </p:nvSpPr>
        <p:spPr>
          <a:xfrm>
            <a:off x="762000" y="15748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REVENUE (₹ Cr)</a:t>
            </a:r>
            <a:endParaRPr lang="en-US" sz="1800" dirty="0"/>
          </a:p>
        </p:txBody>
      </p:sp>
      <p:graphicFrame>
        <p:nvGraphicFramePr>
          <p:cNvPr id="5" name="products-chart" descr=""/>
          <p:cNvGraphicFramePr/>
          <p:nvPr/>
        </p:nvGraphicFramePr>
        <p:xfrm>
          <a:off x="762000" y="213360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roduct-winner-tag"/>
          <p:cNvSpPr/>
          <p:nvPr/>
        </p:nvSpPr>
        <p:spPr>
          <a:xfrm>
            <a:off x="5372100" y="2184400"/>
            <a:ext cx="2057400" cy="3937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product-winner-text"/>
          <p:cNvSpPr/>
          <p:nvPr/>
        </p:nvSpPr>
        <p:spPr>
          <a:xfrm>
            <a:off x="5372100" y="2184400"/>
            <a:ext cx="20574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PRODUCT</a:t>
            </a:r>
            <a:endParaRPr lang="en-US" sz="1300" dirty="0"/>
          </a:p>
        </p:txBody>
      </p:sp>
      <p:sp>
        <p:nvSpPr>
          <p:cNvPr id="8" name="cities-heading"/>
          <p:cNvSpPr/>
          <p:nvPr/>
        </p:nvSpPr>
        <p:spPr>
          <a:xfrm>
            <a:off x="8636000" y="15748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CITIES BY REVENUE (₹ Cr)</a:t>
            </a:r>
            <a:endParaRPr lang="en-US" sz="1800" dirty="0"/>
          </a:p>
        </p:txBody>
      </p:sp>
      <p:graphicFrame>
        <p:nvGraphicFramePr>
          <p:cNvPr id="9" name="cities-chart" descr=""/>
          <p:cNvGraphicFramePr/>
          <p:nvPr/>
        </p:nvGraphicFramePr>
        <p:xfrm>
          <a:off x="8636000" y="213360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ity-winner-tag"/>
          <p:cNvSpPr/>
          <p:nvPr/>
        </p:nvSpPr>
        <p:spPr>
          <a:xfrm>
            <a:off x="13436600" y="2184400"/>
            <a:ext cx="1879600" cy="3937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1" name="city-winner-text"/>
          <p:cNvSpPr/>
          <p:nvPr/>
        </p:nvSpPr>
        <p:spPr>
          <a:xfrm>
            <a:off x="13436600" y="2184400"/>
            <a:ext cx="187960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MARKET</a:t>
            </a:r>
            <a:endParaRPr lang="en-US" sz="1300" dirty="0"/>
          </a:p>
        </p:txBody>
      </p:sp>
      <p:sp>
        <p:nvSpPr>
          <p:cNvPr id="12" name="insight-product"/>
          <p:cNvSpPr/>
          <p:nvPr/>
        </p:nvSpPr>
        <p:spPr>
          <a:xfrm>
            <a:off x="762000" y="7010400"/>
            <a:ext cx="4737100" cy="111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nsight-product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340600"/>
            <a:ext cx="431800" cy="431800"/>
          </a:xfrm>
          <a:prstGeom prst="rect">
            <a:avLst/>
          </a:prstGeom>
        </p:spPr>
      </p:pic>
      <p:sp>
        <p:nvSpPr>
          <p:cNvPr id="14" name="insight-product-head"/>
          <p:cNvSpPr/>
          <p:nvPr/>
        </p:nvSpPr>
        <p:spPr>
          <a:xfrm>
            <a:off x="1651000" y="718820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LEADS PRODUCTS</a:t>
            </a:r>
            <a:endParaRPr lang="en-US" sz="1700" dirty="0"/>
          </a:p>
        </p:txBody>
      </p:sp>
      <p:sp>
        <p:nvSpPr>
          <p:cNvPr id="15" name="insight-product-copy"/>
          <p:cNvSpPr/>
          <p:nvPr/>
        </p:nvSpPr>
        <p:spPr>
          <a:xfrm>
            <a:off x="1651000" y="7543800"/>
            <a:ext cx="349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₹2.54 Cr — highest revenue generator</a:t>
            </a:r>
            <a:endParaRPr lang="en-US" sz="1400" dirty="0"/>
          </a:p>
        </p:txBody>
      </p:sp>
      <p:sp>
        <p:nvSpPr>
          <p:cNvPr id="16" name="insight-category"/>
          <p:cNvSpPr/>
          <p:nvPr/>
        </p:nvSpPr>
        <p:spPr>
          <a:xfrm>
            <a:off x="5765800" y="7010400"/>
            <a:ext cx="4737100" cy="111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nsight-category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7340600"/>
            <a:ext cx="431800" cy="431800"/>
          </a:xfrm>
          <a:prstGeom prst="rect">
            <a:avLst/>
          </a:prstGeom>
        </p:spPr>
      </p:pic>
      <p:sp>
        <p:nvSpPr>
          <p:cNvPr id="18" name="insight-category-head"/>
          <p:cNvSpPr/>
          <p:nvPr/>
        </p:nvSpPr>
        <p:spPr>
          <a:xfrm>
            <a:off x="6654800" y="718820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ELECTRONICS LEAD</a:t>
            </a:r>
            <a:endParaRPr lang="en-US" sz="1700" dirty="0"/>
          </a:p>
        </p:txBody>
      </p:sp>
      <p:sp>
        <p:nvSpPr>
          <p:cNvPr id="19" name="insight-category-copy"/>
          <p:cNvSpPr/>
          <p:nvPr/>
        </p:nvSpPr>
        <p:spPr>
          <a:xfrm>
            <a:off x="6654800" y="7543800"/>
            <a:ext cx="349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revenue-generating category</a:t>
            </a:r>
            <a:endParaRPr lang="en-US" sz="1400" dirty="0"/>
          </a:p>
        </p:txBody>
      </p:sp>
      <p:sp>
        <p:nvSpPr>
          <p:cNvPr id="20" name="insight-city"/>
          <p:cNvSpPr/>
          <p:nvPr/>
        </p:nvSpPr>
        <p:spPr>
          <a:xfrm>
            <a:off x="10756900" y="7010400"/>
            <a:ext cx="4737100" cy="111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nsight-city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5500" y="7340600"/>
            <a:ext cx="431800" cy="431800"/>
          </a:xfrm>
          <a:prstGeom prst="rect">
            <a:avLst/>
          </a:prstGeom>
        </p:spPr>
      </p:pic>
      <p:sp>
        <p:nvSpPr>
          <p:cNvPr id="22" name="insight-city-head"/>
          <p:cNvSpPr/>
          <p:nvPr/>
        </p:nvSpPr>
        <p:spPr>
          <a:xfrm>
            <a:off x="11645900" y="7188200"/>
            <a:ext cx="349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PATNA LEADS MARKETS</a:t>
            </a:r>
            <a:endParaRPr lang="en-US" sz="1700" dirty="0"/>
          </a:p>
        </p:txBody>
      </p:sp>
      <p:sp>
        <p:nvSpPr>
          <p:cNvPr id="23" name="insight-city-copy"/>
          <p:cNvSpPr/>
          <p:nvPr/>
        </p:nvSpPr>
        <p:spPr>
          <a:xfrm>
            <a:off x="11645900" y="7543800"/>
            <a:ext cx="3492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₹1.93 Cr — strongest geographic market</a:t>
            </a:r>
            <a:endParaRPr lang="en-US" sz="1400" dirty="0"/>
          </a:p>
        </p:txBody>
      </p:sp>
      <p:sp>
        <p:nvSpPr>
          <p:cNvPr id="24" name="footer-note"/>
          <p:cNvSpPr/>
          <p:nvPr/>
        </p:nvSpPr>
        <p:spPr>
          <a:xfrm>
            <a:off x="762000" y="8610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25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one-third of customers generate two-thirds of revenue</a:t>
            </a:r>
            <a:endParaRPr lang="en-US" sz="30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subtitle"/>
          <p:cNvSpPr/>
          <p:nvPr/>
        </p:nvSpPr>
        <p:spPr>
          <a:xfrm>
            <a:off x="762000" y="1422400"/>
            <a:ext cx="1168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 reveals a concentrated revenue base.</a:t>
            </a:r>
            <a:endParaRPr lang="en-US" sz="1800" dirty="0"/>
          </a:p>
        </p:txBody>
      </p:sp>
      <p:sp>
        <p:nvSpPr>
          <p:cNvPr id="5" name="donut-heading"/>
          <p:cNvSpPr/>
          <p:nvPr/>
        </p:nvSpPr>
        <p:spPr>
          <a:xfrm>
            <a:off x="889000" y="19050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 BY CUSTOMER VALUE</a:t>
            </a:r>
            <a:endParaRPr lang="en-US" sz="1800" dirty="0"/>
          </a:p>
        </p:txBody>
      </p:sp>
      <p:graphicFrame>
        <p:nvGraphicFramePr>
          <p:cNvPr id="6" name="segment-donut" descr=""/>
          <p:cNvGraphicFramePr/>
          <p:nvPr/>
        </p:nvGraphicFramePr>
        <p:xfrm>
          <a:off x="889000" y="2286000"/>
          <a:ext cx="5715000" cy="444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donut-center-value"/>
          <p:cNvSpPr/>
          <p:nvPr/>
        </p:nvSpPr>
        <p:spPr>
          <a:xfrm>
            <a:off x="2260600" y="3733800"/>
            <a:ext cx="27686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28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66.3%</a:t>
            </a:r>
            <a:endParaRPr lang="en-US" sz="2800" dirty="0"/>
          </a:p>
        </p:txBody>
      </p:sp>
      <p:sp>
        <p:nvSpPr>
          <p:cNvPr id="8" name="donut-center-label"/>
          <p:cNvSpPr/>
          <p:nvPr/>
        </p:nvSpPr>
        <p:spPr>
          <a:xfrm>
            <a:off x="2362200" y="4381500"/>
            <a:ext cx="2768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Value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</a:t>
            </a:r>
            <a:endParaRPr lang="en-US" sz="1800" dirty="0"/>
          </a:p>
        </p:txBody>
      </p:sp>
      <p:sp>
        <p:nvSpPr>
          <p:cNvPr id="9" name="segment-list-heading"/>
          <p:cNvSpPr/>
          <p:nvPr/>
        </p:nvSpPr>
        <p:spPr>
          <a:xfrm>
            <a:off x="7620000" y="19050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VALUE MIX</a:t>
            </a:r>
            <a:endParaRPr lang="en-US" sz="1800" dirty="0"/>
          </a:p>
        </p:txBody>
      </p:sp>
      <p:sp>
        <p:nvSpPr>
          <p:cNvPr id="10" name="high-value-panel"/>
          <p:cNvSpPr/>
          <p:nvPr/>
        </p:nvSpPr>
        <p:spPr>
          <a:xfrm>
            <a:off x="7620000" y="2311400"/>
            <a:ext cx="7874000" cy="111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11" name="high-value-marker"/>
          <p:cNvSpPr/>
          <p:nvPr/>
        </p:nvSpPr>
        <p:spPr>
          <a:xfrm>
            <a:off x="7620000" y="2311400"/>
            <a:ext cx="127000" cy="11176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high-value-name"/>
          <p:cNvSpPr/>
          <p:nvPr/>
        </p:nvSpPr>
        <p:spPr>
          <a:xfrm>
            <a:off x="8026400" y="2514600"/>
            <a:ext cx="228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Value</a:t>
            </a:r>
            <a:endParaRPr lang="en-US" sz="2000" dirty="0"/>
          </a:p>
        </p:txBody>
      </p:sp>
      <p:sp>
        <p:nvSpPr>
          <p:cNvPr id="13" name="high-value-count"/>
          <p:cNvSpPr/>
          <p:nvPr/>
        </p:nvSpPr>
        <p:spPr>
          <a:xfrm>
            <a:off x="8026400" y="2921000"/>
            <a:ext cx="241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316 customers</a:t>
            </a:r>
            <a:endParaRPr lang="en-US" sz="1500" dirty="0"/>
          </a:p>
        </p:txBody>
      </p:sp>
      <p:sp>
        <p:nvSpPr>
          <p:cNvPr id="14" name="high-value-share"/>
          <p:cNvSpPr/>
          <p:nvPr/>
        </p:nvSpPr>
        <p:spPr>
          <a:xfrm>
            <a:off x="12090400" y="2552700"/>
            <a:ext cx="30226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34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66.3%</a:t>
            </a:r>
            <a:endParaRPr lang="en-US" sz="3400" dirty="0"/>
          </a:p>
        </p:txBody>
      </p:sp>
      <p:sp>
        <p:nvSpPr>
          <p:cNvPr id="15" name="medium-value-panel"/>
          <p:cNvSpPr/>
          <p:nvPr/>
        </p:nvSpPr>
        <p:spPr>
          <a:xfrm>
            <a:off x="7620000" y="3657600"/>
            <a:ext cx="7874000" cy="99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medium-value-marker"/>
          <p:cNvSpPr/>
          <p:nvPr/>
        </p:nvSpPr>
        <p:spPr>
          <a:xfrm>
            <a:off x="7620000" y="3657600"/>
            <a:ext cx="127000" cy="9906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medium-value-name"/>
          <p:cNvSpPr/>
          <p:nvPr/>
        </p:nvSpPr>
        <p:spPr>
          <a:xfrm>
            <a:off x="8026400" y="38354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Value</a:t>
            </a:r>
            <a:endParaRPr lang="en-US" sz="1900" dirty="0"/>
          </a:p>
        </p:txBody>
      </p:sp>
      <p:sp>
        <p:nvSpPr>
          <p:cNvPr id="18" name="medium-value-count"/>
          <p:cNvSpPr/>
          <p:nvPr/>
        </p:nvSpPr>
        <p:spPr>
          <a:xfrm>
            <a:off x="8026400" y="4191000"/>
            <a:ext cx="241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 customers</a:t>
            </a:r>
            <a:endParaRPr lang="en-US" sz="1500" dirty="0"/>
          </a:p>
        </p:txBody>
      </p:sp>
      <p:sp>
        <p:nvSpPr>
          <p:cNvPr id="19" name="medium-value-share"/>
          <p:cNvSpPr/>
          <p:nvPr/>
        </p:nvSpPr>
        <p:spPr>
          <a:xfrm>
            <a:off x="12395200" y="3924300"/>
            <a:ext cx="2717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2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26.3%</a:t>
            </a:r>
            <a:endParaRPr lang="en-US" sz="2900" dirty="0"/>
          </a:p>
        </p:txBody>
      </p:sp>
      <p:sp>
        <p:nvSpPr>
          <p:cNvPr id="20" name="low-value-panel"/>
          <p:cNvSpPr/>
          <p:nvPr/>
        </p:nvSpPr>
        <p:spPr>
          <a:xfrm>
            <a:off x="7620000" y="4876800"/>
            <a:ext cx="7874000" cy="99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low-value-marker"/>
          <p:cNvSpPr/>
          <p:nvPr/>
        </p:nvSpPr>
        <p:spPr>
          <a:xfrm>
            <a:off x="7620000" y="4876800"/>
            <a:ext cx="127000" cy="990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low-value-name"/>
          <p:cNvSpPr/>
          <p:nvPr/>
        </p:nvSpPr>
        <p:spPr>
          <a:xfrm>
            <a:off x="8026400" y="50546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Value</a:t>
            </a:r>
            <a:endParaRPr lang="en-US" sz="1900" dirty="0"/>
          </a:p>
        </p:txBody>
      </p:sp>
      <p:sp>
        <p:nvSpPr>
          <p:cNvPr id="23" name="low-value-count"/>
          <p:cNvSpPr/>
          <p:nvPr/>
        </p:nvSpPr>
        <p:spPr>
          <a:xfrm>
            <a:off x="8026400" y="5410200"/>
            <a:ext cx="241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316 customers</a:t>
            </a:r>
            <a:endParaRPr lang="en-US" sz="1500" dirty="0"/>
          </a:p>
        </p:txBody>
      </p:sp>
      <p:sp>
        <p:nvSpPr>
          <p:cNvPr id="24" name="low-value-share"/>
          <p:cNvSpPr/>
          <p:nvPr/>
        </p:nvSpPr>
        <p:spPr>
          <a:xfrm>
            <a:off x="12395200" y="5143500"/>
            <a:ext cx="2717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2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7.4%</a:t>
            </a:r>
            <a:endParaRPr lang="en-US" sz="2900" dirty="0"/>
          </a:p>
        </p:txBody>
      </p:sp>
      <p:sp>
        <p:nvSpPr>
          <p:cNvPr id="25" name="priority-panel"/>
          <p:cNvSpPr/>
          <p:nvPr/>
        </p:nvSpPr>
        <p:spPr>
          <a:xfrm>
            <a:off x="7620000" y="6172200"/>
            <a:ext cx="7874000" cy="787400"/>
          </a:xfrm>
          <a:prstGeom prst="rect">
            <a:avLst/>
          </a:prstGeom>
          <a:solidFill>
            <a:srgbClr val="0A192F"/>
          </a:solidFill>
          <a:ln/>
        </p:spPr>
      </p:sp>
      <p:pic>
        <p:nvPicPr>
          <p:cNvPr id="26" name="priority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0" y="6388100"/>
            <a:ext cx="355600" cy="355600"/>
          </a:xfrm>
          <a:prstGeom prst="rect">
            <a:avLst/>
          </a:prstGeom>
        </p:spPr>
      </p:pic>
      <p:sp>
        <p:nvSpPr>
          <p:cNvPr id="27" name="priority-copy"/>
          <p:cNvSpPr/>
          <p:nvPr/>
        </p:nvSpPr>
        <p:spPr>
          <a:xfrm>
            <a:off x="8509000" y="6299200"/>
            <a:ext cx="655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retain High Value customers and grow Medium Value customers.</a:t>
            </a:r>
            <a:endParaRPr lang="en-US" sz="1800" dirty="0"/>
          </a:p>
        </p:txBody>
      </p:sp>
      <p:sp>
        <p:nvSpPr>
          <p:cNvPr id="28" name="implication-banner"/>
          <p:cNvSpPr/>
          <p:nvPr/>
        </p:nvSpPr>
        <p:spPr>
          <a:xfrm>
            <a:off x="762000" y="7340600"/>
            <a:ext cx="14732000" cy="889000"/>
          </a:xfrm>
          <a:prstGeom prst="rect">
            <a:avLst/>
          </a:prstGeom>
          <a:solidFill>
            <a:srgbClr val="0A192F"/>
          </a:solidFill>
          <a:ln/>
        </p:spPr>
      </p:sp>
      <p:pic>
        <p:nvPicPr>
          <p:cNvPr id="29" name="implication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7594600"/>
            <a:ext cx="381000" cy="381000"/>
          </a:xfrm>
          <a:prstGeom prst="rect">
            <a:avLst/>
          </a:prstGeom>
        </p:spPr>
      </p:pic>
      <p:sp>
        <p:nvSpPr>
          <p:cNvPr id="30" name="implication-label"/>
          <p:cNvSpPr/>
          <p:nvPr/>
        </p:nvSpPr>
        <p:spPr>
          <a:xfrm>
            <a:off x="1676400" y="74930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IMPLICATION</a:t>
            </a:r>
            <a:endParaRPr lang="en-US" sz="1300" dirty="0"/>
          </a:p>
        </p:txBody>
      </p:sp>
      <p:sp>
        <p:nvSpPr>
          <p:cNvPr id="31" name="implication-text"/>
          <p:cNvSpPr/>
          <p:nvPr/>
        </p:nvSpPr>
        <p:spPr>
          <a:xfrm>
            <a:off x="1676400" y="7785100"/>
            <a:ext cx="133096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one-third of customers generate approximately two-thirds of total revenue.</a:t>
            </a:r>
            <a:endParaRPr lang="en-US" sz="1900" dirty="0"/>
          </a:p>
        </p:txBody>
      </p:sp>
      <p:sp>
        <p:nvSpPr>
          <p:cNvPr id="32" name="footer-note"/>
          <p:cNvSpPr/>
          <p:nvPr/>
        </p:nvSpPr>
        <p:spPr>
          <a:xfrm>
            <a:off x="762000" y="8610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33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momentum is uneven across the year</a:t>
            </a:r>
            <a:endParaRPr lang="en-US" sz="30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trend-heading"/>
          <p:cNvSpPr/>
          <p:nvPr/>
        </p:nvSpPr>
        <p:spPr>
          <a:xfrm>
            <a:off x="12020550" y="1408430"/>
            <a:ext cx="482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 TREND (₹ Cr)</a:t>
            </a:r>
            <a:endParaRPr lang="en-US" sz="1800" dirty="0"/>
          </a:p>
        </p:txBody>
      </p:sp>
      <p:graphicFrame>
        <p:nvGraphicFramePr>
          <p:cNvPr id="5" name="monthly-revenue-chart" descr=""/>
          <p:cNvGraphicFramePr/>
          <p:nvPr/>
        </p:nvGraphicFramePr>
        <p:xfrm>
          <a:off x="11889740" y="1738630"/>
          <a:ext cx="4258310" cy="37858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insight-march-text"/>
          <p:cNvSpPr/>
          <p:nvPr/>
        </p:nvSpPr>
        <p:spPr>
          <a:xfrm>
            <a:off x="11847830" y="5795010"/>
            <a:ext cx="4165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March:</a:t>
            </a:r>
            <a:r>
              <a:rPr lang="en-US" altLang="en-US" sz="1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₹1.31 Cr — strongest month</a:t>
            </a:r>
            <a:endParaRPr lang="en-US" sz="1600" dirty="0"/>
          </a:p>
        </p:txBody>
      </p:sp>
      <p:sp>
        <p:nvSpPr>
          <p:cNvPr id="7" name="insight-june-text"/>
          <p:cNvSpPr/>
          <p:nvPr/>
        </p:nvSpPr>
        <p:spPr>
          <a:xfrm>
            <a:off x="11982450" y="6560820"/>
            <a:ext cx="4165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June:</a:t>
            </a:r>
            <a:r>
              <a:rPr lang="en-US" altLang="en-US" sz="1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₹1.29 Cr — strong momentum</a:t>
            </a:r>
            <a:endParaRPr lang="en-US" sz="1600" dirty="0"/>
          </a:p>
        </p:txBody>
      </p:sp>
      <p:sp>
        <p:nvSpPr>
          <p:cNvPr id="8" name="insight-low-text"/>
          <p:cNvSpPr/>
          <p:nvPr/>
        </p:nvSpPr>
        <p:spPr>
          <a:xfrm>
            <a:off x="11913870" y="7270750"/>
            <a:ext cx="44602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Aug–Sep:</a:t>
            </a:r>
            <a:r>
              <a:rPr lang="en-US" altLang="en-US" sz="1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relatively lower-performing period</a:t>
            </a:r>
            <a:endParaRPr lang="en-US" sz="1600" dirty="0"/>
          </a:p>
        </p:txBody>
      </p:sp>
      <p:sp>
        <p:nvSpPr>
          <p:cNvPr id="9" name="dashboard-placeholder-features"/>
          <p:cNvSpPr/>
          <p:nvPr/>
        </p:nvSpPr>
        <p:spPr>
          <a:xfrm>
            <a:off x="476250" y="7829550"/>
            <a:ext cx="1567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Filters: Date, Category, Customer Segment, City, Reset Filters</a:t>
            </a:r>
            <a:endParaRPr lang="en-US" sz="140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Views: KPI Monitoring, Product Analysis, Customer Segmentation, Geographic Analysis</a:t>
            </a:r>
            <a:endParaRPr lang="en-US" sz="1400" dirty="0"/>
          </a:p>
        </p:txBody>
      </p:sp>
      <p:sp>
        <p:nvSpPr>
          <p:cNvPr id="10" name="footer-note"/>
          <p:cNvSpPr/>
          <p:nvPr/>
        </p:nvSpPr>
        <p:spPr>
          <a:xfrm>
            <a:off x="1238250" y="8737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11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pic>
        <p:nvPicPr>
          <p:cNvPr id="12" name="pasted-image-5zeb1m9bhRIrRsOjtjwrc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45870"/>
            <a:ext cx="11371580" cy="6503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is not a statistically significant driver of average order sales</a:t>
            </a:r>
            <a:endParaRPr lang="en-US" sz="29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question-panel"/>
          <p:cNvSpPr/>
          <p:nvPr/>
        </p:nvSpPr>
        <p:spPr>
          <a:xfrm>
            <a:off x="762000" y="1524000"/>
            <a:ext cx="6794500" cy="1066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questio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816100"/>
            <a:ext cx="355600" cy="355600"/>
          </a:xfrm>
          <a:prstGeom prst="rect">
            <a:avLst/>
          </a:prstGeom>
        </p:spPr>
      </p:pic>
      <p:sp>
        <p:nvSpPr>
          <p:cNvPr id="6" name="question-label"/>
          <p:cNvSpPr/>
          <p:nvPr/>
        </p:nvSpPr>
        <p:spPr>
          <a:xfrm>
            <a:off x="1625600" y="1701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</a:t>
            </a:r>
            <a:endParaRPr lang="en-US" sz="1300" dirty="0"/>
          </a:p>
        </p:txBody>
      </p:sp>
      <p:sp>
        <p:nvSpPr>
          <p:cNvPr id="7" name="question-copy"/>
          <p:cNvSpPr/>
          <p:nvPr/>
        </p:nvSpPr>
        <p:spPr>
          <a:xfrm>
            <a:off x="1625600" y="2032000"/>
            <a:ext cx="546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customer gender significantly impact average order sales?</a:t>
            </a:r>
            <a:endParaRPr lang="en-US" sz="1800" dirty="0"/>
          </a:p>
        </p:txBody>
      </p:sp>
      <p:sp>
        <p:nvSpPr>
          <p:cNvPr id="8" name="test-panel"/>
          <p:cNvSpPr/>
          <p:nvPr/>
        </p:nvSpPr>
        <p:spPr>
          <a:xfrm>
            <a:off x="7937500" y="1524000"/>
            <a:ext cx="7556500" cy="1066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tes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816100"/>
            <a:ext cx="355600" cy="355600"/>
          </a:xfrm>
          <a:prstGeom prst="rect">
            <a:avLst/>
          </a:prstGeom>
        </p:spPr>
      </p:pic>
      <p:sp>
        <p:nvSpPr>
          <p:cNvPr id="10" name="test-label"/>
          <p:cNvSpPr/>
          <p:nvPr/>
        </p:nvSpPr>
        <p:spPr>
          <a:xfrm>
            <a:off x="8801100" y="17018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USED</a:t>
            </a:r>
            <a:endParaRPr lang="en-US" sz="1300" dirty="0"/>
          </a:p>
        </p:txBody>
      </p:sp>
      <p:sp>
        <p:nvSpPr>
          <p:cNvPr id="11" name="test-name"/>
          <p:cNvSpPr/>
          <p:nvPr/>
        </p:nvSpPr>
        <p:spPr>
          <a:xfrm>
            <a:off x="8801100" y="2032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Welch’s Independent Samples T-Test</a:t>
            </a:r>
            <a:endParaRPr lang="en-US" sz="2000" dirty="0"/>
          </a:p>
        </p:txBody>
      </p:sp>
      <p:sp>
        <p:nvSpPr>
          <p:cNvPr id="12" name="comparison-heading"/>
          <p:cNvSpPr/>
          <p:nvPr/>
        </p:nvSpPr>
        <p:spPr>
          <a:xfrm>
            <a:off x="762000" y="2794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ORDER-LEVEL COMPARISON</a:t>
            </a:r>
            <a:endParaRPr lang="en-US" sz="1700" dirty="0"/>
          </a:p>
        </p:txBody>
      </p:sp>
      <p:graphicFrame>
        <p:nvGraphicFramePr>
          <p:cNvPr id="13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124200"/>
          <a:ext cx="6794500" cy="2057400"/>
        </p:xfrm>
        <a:graphic>
          <a:graphicData uri="http://schemas.openxmlformats.org/drawingml/2006/table">
            <a:tbl>
              <a:tblPr/>
              <a:tblGrid>
                <a:gridCol w="3397250"/>
                <a:gridCol w="1698625"/>
                <a:gridCol w="1698625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Orders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489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Average Sales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₹141,807.34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0A192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₹136,883.21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inference-heading"/>
          <p:cNvSpPr/>
          <p:nvPr/>
        </p:nvSpPr>
        <p:spPr>
          <a:xfrm>
            <a:off x="7937500" y="2794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READOUT</a:t>
            </a:r>
            <a:endParaRPr lang="en-US" sz="1700" dirty="0"/>
          </a:p>
        </p:txBody>
      </p:sp>
      <p:sp>
        <p:nvSpPr>
          <p:cNvPr id="15" name="pvalue-panel"/>
          <p:cNvSpPr/>
          <p:nvPr/>
        </p:nvSpPr>
        <p:spPr>
          <a:xfrm>
            <a:off x="7937500" y="3124200"/>
            <a:ext cx="3556000" cy="20574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pvalue-label"/>
          <p:cNvSpPr/>
          <p:nvPr/>
        </p:nvSpPr>
        <p:spPr>
          <a:xfrm>
            <a:off x="8255000" y="3429000"/>
            <a:ext cx="292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P-VALUE</a:t>
            </a:r>
            <a:endParaRPr lang="en-US" sz="1400" dirty="0"/>
          </a:p>
        </p:txBody>
      </p:sp>
      <p:sp>
        <p:nvSpPr>
          <p:cNvPr id="17" name="pvalue-value"/>
          <p:cNvSpPr/>
          <p:nvPr/>
        </p:nvSpPr>
        <p:spPr>
          <a:xfrm>
            <a:off x="8255000" y="3810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43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0.4950</a:t>
            </a:r>
            <a:endParaRPr lang="en-US" sz="4300" dirty="0"/>
          </a:p>
        </p:txBody>
      </p:sp>
      <p:sp>
        <p:nvSpPr>
          <p:cNvPr id="18" name="pvalue-vs-alpha"/>
          <p:cNvSpPr/>
          <p:nvPr/>
        </p:nvSpPr>
        <p:spPr>
          <a:xfrm>
            <a:off x="8255000" y="4597400"/>
            <a:ext cx="292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0.4950 &gt; 0.05</a:t>
            </a:r>
            <a:endParaRPr lang="en-US" sz="1600" dirty="0"/>
          </a:p>
        </p:txBody>
      </p:sp>
      <p:sp>
        <p:nvSpPr>
          <p:cNvPr id="19" name="inference-panel"/>
          <p:cNvSpPr/>
          <p:nvPr/>
        </p:nvSpPr>
        <p:spPr>
          <a:xfrm>
            <a:off x="11747500" y="3124200"/>
            <a:ext cx="374650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stat-label"/>
          <p:cNvSpPr/>
          <p:nvPr/>
        </p:nvSpPr>
        <p:spPr>
          <a:xfrm>
            <a:off x="12026900" y="3352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T-STATISTIC</a:t>
            </a:r>
            <a:endParaRPr lang="en-US" sz="1300" dirty="0"/>
          </a:p>
        </p:txBody>
      </p:sp>
      <p:sp>
        <p:nvSpPr>
          <p:cNvPr id="21" name="tstat-value"/>
          <p:cNvSpPr/>
          <p:nvPr/>
        </p:nvSpPr>
        <p:spPr>
          <a:xfrm>
            <a:off x="12026900" y="36449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0.6826</a:t>
            </a:r>
            <a:endParaRPr lang="en-US" sz="2200" dirty="0"/>
          </a:p>
        </p:txBody>
      </p:sp>
      <p:sp>
        <p:nvSpPr>
          <p:cNvPr id="22" name="alpha-label"/>
          <p:cNvSpPr/>
          <p:nvPr/>
        </p:nvSpPr>
        <p:spPr>
          <a:xfrm>
            <a:off x="12026900" y="41275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SIGNIFICANCE LEVEL</a:t>
            </a:r>
            <a:endParaRPr lang="en-US" sz="1300" dirty="0"/>
          </a:p>
        </p:txBody>
      </p:sp>
      <p:sp>
        <p:nvSpPr>
          <p:cNvPr id="23" name="alpha-value"/>
          <p:cNvSpPr/>
          <p:nvPr/>
        </p:nvSpPr>
        <p:spPr>
          <a:xfrm>
            <a:off x="12026900" y="441960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0.05</a:t>
            </a:r>
            <a:endParaRPr lang="en-US" sz="2200" dirty="0"/>
          </a:p>
        </p:txBody>
      </p:sp>
      <p:sp>
        <p:nvSpPr>
          <p:cNvPr id="24" name="ci-label"/>
          <p:cNvSpPr/>
          <p:nvPr/>
        </p:nvSpPr>
        <p:spPr>
          <a:xfrm>
            <a:off x="14160500" y="33528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CI</a:t>
            </a:r>
            <a:endParaRPr lang="en-US" sz="1300" dirty="0"/>
          </a:p>
        </p:txBody>
      </p:sp>
      <p:sp>
        <p:nvSpPr>
          <p:cNvPr id="25" name="ci-value"/>
          <p:cNvSpPr/>
          <p:nvPr/>
        </p:nvSpPr>
        <p:spPr>
          <a:xfrm>
            <a:off x="13335000" y="3733800"/>
            <a:ext cx="190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-₹9,231.58 to</a:t>
            </a:r>
            <a:endParaRPr lang="en-US" sz="1400" dirty="0"/>
          </a:p>
          <a:p>
            <a:pPr algn="r" indent="0" marL="0">
              <a:buNone/>
            </a:pPr>
            <a:r>
              <a:rPr lang="en-US" altLang="en-US" sz="14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₹19,079.85</a:t>
            </a:r>
            <a:endParaRPr lang="en-US" sz="1400" dirty="0"/>
          </a:p>
        </p:txBody>
      </p:sp>
      <p:sp>
        <p:nvSpPr>
          <p:cNvPr id="26" name="hypothesis-panel"/>
          <p:cNvSpPr/>
          <p:nvPr/>
        </p:nvSpPr>
        <p:spPr>
          <a:xfrm>
            <a:off x="762000" y="5461000"/>
            <a:ext cx="14732000" cy="711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hypothesis-h0"/>
          <p:cNvSpPr/>
          <p:nvPr/>
        </p:nvSpPr>
        <p:spPr>
          <a:xfrm>
            <a:off x="1016000" y="5600700"/>
            <a:ext cx="660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US" altLang="en-US" sz="1125" baseline="-25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 statistically significant difference in average order sales.</a:t>
            </a:r>
            <a:endParaRPr lang="en-US" sz="1500" dirty="0"/>
          </a:p>
        </p:txBody>
      </p:sp>
      <p:sp>
        <p:nvSpPr>
          <p:cNvPr id="28" name="hypothesis-divider"/>
          <p:cNvSpPr/>
          <p:nvPr/>
        </p:nvSpPr>
        <p:spPr>
          <a:xfrm>
            <a:off x="7747000" y="5613400"/>
            <a:ext cx="9144" cy="4064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29" name="hypothesis-h1"/>
          <p:cNvSpPr/>
          <p:nvPr/>
        </p:nvSpPr>
        <p:spPr>
          <a:xfrm>
            <a:off x="8001000" y="5600700"/>
            <a:ext cx="723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US" altLang="en-US" sz="1125" baseline="-250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altLang="en-US" sz="15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statistically significant difference exists.</a:t>
            </a:r>
            <a:endParaRPr lang="en-US" sz="1500" dirty="0"/>
          </a:p>
        </p:txBody>
      </p:sp>
      <p:sp>
        <p:nvSpPr>
          <p:cNvPr id="30" name="decision-panel"/>
          <p:cNvSpPr/>
          <p:nvPr/>
        </p:nvSpPr>
        <p:spPr>
          <a:xfrm>
            <a:off x="762000" y="6477000"/>
            <a:ext cx="14732000" cy="1752600"/>
          </a:xfrm>
          <a:prstGeom prst="rect">
            <a:avLst/>
          </a:prstGeom>
          <a:solidFill>
            <a:srgbClr val="0A192F"/>
          </a:solidFill>
          <a:ln/>
        </p:spPr>
      </p:sp>
      <p:pic>
        <p:nvPicPr>
          <p:cNvPr id="31" name="decision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6959600"/>
            <a:ext cx="533400" cy="533400"/>
          </a:xfrm>
          <a:prstGeom prst="rect">
            <a:avLst/>
          </a:prstGeom>
        </p:spPr>
      </p:pic>
      <p:sp>
        <p:nvSpPr>
          <p:cNvPr id="32" name="decision-label"/>
          <p:cNvSpPr/>
          <p:nvPr/>
        </p:nvSpPr>
        <p:spPr>
          <a:xfrm>
            <a:off x="1930400" y="6731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DECISION</a:t>
            </a:r>
            <a:endParaRPr lang="en-US" sz="1300" dirty="0"/>
          </a:p>
        </p:txBody>
      </p:sp>
      <p:sp>
        <p:nvSpPr>
          <p:cNvPr id="33" name="decision-title"/>
          <p:cNvSpPr/>
          <p:nvPr/>
        </p:nvSpPr>
        <p:spPr>
          <a:xfrm>
            <a:off x="1930400" y="70485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 to Reject H</a:t>
            </a:r>
            <a:r>
              <a:rPr lang="en-US" altLang="en-US" sz="2025" baseline="-2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700" dirty="0"/>
          </a:p>
        </p:txBody>
      </p:sp>
      <p:sp>
        <p:nvSpPr>
          <p:cNvPr id="34" name="decision-conclusion"/>
          <p:cNvSpPr/>
          <p:nvPr/>
        </p:nvSpPr>
        <p:spPr>
          <a:xfrm>
            <a:off x="6794500" y="6794500"/>
            <a:ext cx="800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no statistically significant difference in average sales by gender.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alone should not be considered a strong driver of customer spending behavior.</a:t>
            </a:r>
            <a:endParaRPr lang="en-US" sz="1800" dirty="0"/>
          </a:p>
        </p:txBody>
      </p:sp>
      <p:sp>
        <p:nvSpPr>
          <p:cNvPr id="35" name="footer-note"/>
          <p:cNvSpPr/>
          <p:nvPr/>
        </p:nvSpPr>
        <p:spPr>
          <a:xfrm>
            <a:off x="762000" y="8610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36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4318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resources on value, behavior, products, and markets</a:t>
            </a:r>
            <a:endParaRPr lang="en-US" sz="2900" dirty="0"/>
          </a:p>
        </p:txBody>
      </p:sp>
      <p:sp>
        <p:nvSpPr>
          <p:cNvPr id="3" name="title-rule"/>
          <p:cNvSpPr/>
          <p:nvPr/>
        </p:nvSpPr>
        <p:spPr>
          <a:xfrm>
            <a:off x="762000" y="1143000"/>
            <a:ext cx="14732000" cy="9144"/>
          </a:xfrm>
          <a:prstGeom prst="line">
            <a:avLst/>
          </a:prstGeom>
          <a:ln w="25400">
            <a:solidFill>
              <a:srgbClr val="0A192F"/>
            </a:solidFill>
            <a:prstDash val="solid"/>
          </a:ln>
        </p:spPr>
      </p:sp>
      <p:sp>
        <p:nvSpPr>
          <p:cNvPr id="4" name="rec-1-card"/>
          <p:cNvSpPr/>
          <p:nvPr/>
        </p:nvSpPr>
        <p:spPr>
          <a:xfrm>
            <a:off x="762000" y="1549400"/>
            <a:ext cx="4648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rec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803400"/>
            <a:ext cx="355600" cy="355600"/>
          </a:xfrm>
          <a:prstGeom prst="rect">
            <a:avLst/>
          </a:prstGeom>
        </p:spPr>
      </p:pic>
      <p:sp>
        <p:nvSpPr>
          <p:cNvPr id="6" name="rec-1-title"/>
          <p:cNvSpPr/>
          <p:nvPr/>
        </p:nvSpPr>
        <p:spPr>
          <a:xfrm>
            <a:off x="1574800" y="1752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 High Value Customers</a:t>
            </a:r>
            <a:endParaRPr lang="en-US" sz="1700" dirty="0"/>
          </a:p>
        </p:txBody>
      </p:sp>
      <p:sp>
        <p:nvSpPr>
          <p:cNvPr id="7" name="rec-1-copy"/>
          <p:cNvSpPr/>
          <p:nvPr/>
        </p:nvSpPr>
        <p:spPr>
          <a:xfrm>
            <a:off x="1574800" y="2171700"/>
            <a:ext cx="340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loyalty programs, personalized engagement, and premium benefits.</a:t>
            </a:r>
            <a:endParaRPr lang="en-US" sz="1400" dirty="0"/>
          </a:p>
        </p:txBody>
      </p:sp>
      <p:sp>
        <p:nvSpPr>
          <p:cNvPr id="8" name="rec-2-card"/>
          <p:cNvSpPr/>
          <p:nvPr/>
        </p:nvSpPr>
        <p:spPr>
          <a:xfrm>
            <a:off x="5803900" y="1549400"/>
            <a:ext cx="4648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rec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1803400"/>
            <a:ext cx="355600" cy="355600"/>
          </a:xfrm>
          <a:prstGeom prst="rect">
            <a:avLst/>
          </a:prstGeom>
        </p:spPr>
      </p:pic>
      <p:sp>
        <p:nvSpPr>
          <p:cNvPr id="10" name="rec-2-title"/>
          <p:cNvSpPr/>
          <p:nvPr/>
        </p:nvSpPr>
        <p:spPr>
          <a:xfrm>
            <a:off x="6616700" y="1752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Medium Value Customers</a:t>
            </a:r>
            <a:endParaRPr lang="en-US" sz="1700" dirty="0"/>
          </a:p>
        </p:txBody>
      </p:sp>
      <p:sp>
        <p:nvSpPr>
          <p:cNvPr id="11" name="rec-2-copy"/>
          <p:cNvSpPr/>
          <p:nvPr/>
        </p:nvSpPr>
        <p:spPr>
          <a:xfrm>
            <a:off x="6616700" y="2171700"/>
            <a:ext cx="340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targeted promotions and cross-selling.</a:t>
            </a:r>
            <a:endParaRPr lang="en-US" sz="1400" dirty="0"/>
          </a:p>
        </p:txBody>
      </p:sp>
      <p:sp>
        <p:nvSpPr>
          <p:cNvPr id="12" name="rec-3-card"/>
          <p:cNvSpPr/>
          <p:nvPr/>
        </p:nvSpPr>
        <p:spPr>
          <a:xfrm>
            <a:off x="10845800" y="1549400"/>
            <a:ext cx="4648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rec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800" y="1803400"/>
            <a:ext cx="355600" cy="355600"/>
          </a:xfrm>
          <a:prstGeom prst="rect">
            <a:avLst/>
          </a:prstGeom>
        </p:spPr>
      </p:pic>
      <p:sp>
        <p:nvSpPr>
          <p:cNvPr id="14" name="rec-3-title"/>
          <p:cNvSpPr/>
          <p:nvPr/>
        </p:nvSpPr>
        <p:spPr>
          <a:xfrm>
            <a:off x="11658600" y="1752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Top Products</a:t>
            </a:r>
            <a:endParaRPr lang="en-US" sz="1700" dirty="0"/>
          </a:p>
        </p:txBody>
      </p:sp>
      <p:sp>
        <p:nvSpPr>
          <p:cNvPr id="15" name="rec-3-copy"/>
          <p:cNvSpPr/>
          <p:nvPr/>
        </p:nvSpPr>
        <p:spPr>
          <a:xfrm>
            <a:off x="11658600" y="2171700"/>
            <a:ext cx="340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inventory availability and promotional support.</a:t>
            </a:r>
            <a:endParaRPr lang="en-US" sz="1400" dirty="0"/>
          </a:p>
        </p:txBody>
      </p:sp>
      <p:sp>
        <p:nvSpPr>
          <p:cNvPr id="16" name="rec-4-card"/>
          <p:cNvSpPr/>
          <p:nvPr/>
        </p:nvSpPr>
        <p:spPr>
          <a:xfrm>
            <a:off x="762000" y="3200400"/>
            <a:ext cx="7175500" cy="1422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rec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3505200"/>
            <a:ext cx="381000" cy="381000"/>
          </a:xfrm>
          <a:prstGeom prst="rect">
            <a:avLst/>
          </a:prstGeom>
        </p:spPr>
      </p:pic>
      <p:sp>
        <p:nvSpPr>
          <p:cNvPr id="18" name="rec-4-title"/>
          <p:cNvSpPr/>
          <p:nvPr/>
        </p:nvSpPr>
        <p:spPr>
          <a:xfrm>
            <a:off x="1676400" y="3441700"/>
            <a:ext cx="571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Top Markets</a:t>
            </a:r>
            <a:endParaRPr lang="en-US" sz="1800" dirty="0"/>
          </a:p>
        </p:txBody>
      </p:sp>
      <p:sp>
        <p:nvSpPr>
          <p:cNvPr id="19" name="rec-4-copy"/>
          <p:cNvSpPr/>
          <p:nvPr/>
        </p:nvSpPr>
        <p:spPr>
          <a:xfrm>
            <a:off x="1676400" y="3886200"/>
            <a:ext cx="558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alt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regional strategies on high-performing cities.</a:t>
            </a:r>
            <a:endParaRPr lang="en-US" sz="1500" dirty="0"/>
          </a:p>
        </p:txBody>
      </p:sp>
      <p:sp>
        <p:nvSpPr>
          <p:cNvPr id="20" name="rec-5-card"/>
          <p:cNvSpPr/>
          <p:nvPr/>
        </p:nvSpPr>
        <p:spPr>
          <a:xfrm>
            <a:off x="8318500" y="3200400"/>
            <a:ext cx="7175500" cy="1422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rec-5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7900" y="3505200"/>
            <a:ext cx="381000" cy="381000"/>
          </a:xfrm>
          <a:prstGeom prst="rect">
            <a:avLst/>
          </a:prstGeom>
        </p:spPr>
      </p:pic>
      <p:sp>
        <p:nvSpPr>
          <p:cNvPr id="22" name="rec-5-title"/>
          <p:cNvSpPr/>
          <p:nvPr/>
        </p:nvSpPr>
        <p:spPr>
          <a:xfrm>
            <a:off x="9232900" y="3441700"/>
            <a:ext cx="571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Behavioral Targeting</a:t>
            </a:r>
            <a:endParaRPr lang="en-US" sz="1800" dirty="0"/>
          </a:p>
        </p:txBody>
      </p:sp>
      <p:sp>
        <p:nvSpPr>
          <p:cNvPr id="23" name="rec-5-copy"/>
          <p:cNvSpPr/>
          <p:nvPr/>
        </p:nvSpPr>
        <p:spPr>
          <a:xfrm>
            <a:off x="9232900" y="3860800"/>
            <a:ext cx="5715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customer value, purchasing behavior, product preferences, and geography rather than gender-based targeting.</a:t>
            </a:r>
            <a:endParaRPr lang="en-US" sz="1400" dirty="0"/>
          </a:p>
        </p:txBody>
      </p:sp>
      <p:sp>
        <p:nvSpPr>
          <p:cNvPr id="24" name="takeaway-banner"/>
          <p:cNvSpPr/>
          <p:nvPr/>
        </p:nvSpPr>
        <p:spPr>
          <a:xfrm>
            <a:off x="762000" y="5003800"/>
            <a:ext cx="14732000" cy="1524000"/>
          </a:xfrm>
          <a:prstGeom prst="rect">
            <a:avLst/>
          </a:prstGeom>
          <a:solidFill>
            <a:srgbClr val="0A192F"/>
          </a:solidFill>
          <a:ln/>
        </p:spPr>
      </p:sp>
      <p:pic>
        <p:nvPicPr>
          <p:cNvPr id="25" name="takeaway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" y="5461000"/>
            <a:ext cx="482600" cy="482600"/>
          </a:xfrm>
          <a:prstGeom prst="rect">
            <a:avLst/>
          </a:prstGeom>
        </p:spPr>
      </p:pic>
      <p:sp>
        <p:nvSpPr>
          <p:cNvPr id="26" name="takeaway-label"/>
          <p:cNvSpPr/>
          <p:nvPr/>
        </p:nvSpPr>
        <p:spPr>
          <a:xfrm>
            <a:off x="1879600" y="52959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00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27" name="takeaway-text"/>
          <p:cNvSpPr/>
          <p:nvPr/>
        </p:nvSpPr>
        <p:spPr>
          <a:xfrm>
            <a:off x="1879600" y="5651500"/>
            <a:ext cx="1292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resources on customer value, product performance, purchasing behavior, and geographic opportunities to improve customer retention and sustainable revenue growth.</a:t>
            </a:r>
            <a:endParaRPr lang="en-US" sz="1900" dirty="0"/>
          </a:p>
        </p:txBody>
      </p:sp>
      <p:sp>
        <p:nvSpPr>
          <p:cNvPr id="28" name="thankyou-panel"/>
          <p:cNvSpPr/>
          <p:nvPr/>
        </p:nvSpPr>
        <p:spPr>
          <a:xfrm>
            <a:off x="762000" y="6908800"/>
            <a:ext cx="14732000" cy="121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hankyou"/>
          <p:cNvSpPr/>
          <p:nvPr/>
        </p:nvSpPr>
        <p:spPr>
          <a:xfrm>
            <a:off x="762000" y="7073900"/>
            <a:ext cx="1473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9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30" name="presenter-name"/>
          <p:cNvSpPr/>
          <p:nvPr/>
        </p:nvSpPr>
        <p:spPr>
          <a:xfrm>
            <a:off x="762000" y="75692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Anchal Teepa</a:t>
            </a:r>
            <a:endParaRPr lang="en-US" sz="1800" dirty="0"/>
          </a:p>
        </p:txBody>
      </p:sp>
      <p:sp>
        <p:nvSpPr>
          <p:cNvPr id="31" name="footer-note"/>
          <p:cNvSpPr/>
          <p:nvPr/>
        </p:nvSpPr>
        <p:spPr>
          <a:xfrm>
            <a:off x="762000" y="8610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– Task 4</a:t>
            </a:r>
            <a:endParaRPr lang="en-US" sz="1200" dirty="0"/>
          </a:p>
        </p:txBody>
      </p:sp>
      <p:sp>
        <p:nvSpPr>
          <p:cNvPr id="32" name="footer-page"/>
          <p:cNvSpPr/>
          <p:nvPr/>
        </p:nvSpPr>
        <p:spPr>
          <a:xfrm>
            <a:off x="14859000" y="8610600"/>
            <a:ext cx="63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Analytics: From Raw Data to Business Decisions</dc:title>
  <dc:subject>Sales Analytics: From Raw Data to Business Decisions</dc:subject>
  <dc:creator>Manus</dc:creator>
  <cp:lastModifiedBy>Manus</cp:lastModifiedBy>
  <cp:revision>1</cp:revision>
  <dcterms:created xsi:type="dcterms:W3CDTF">2026-08-28T10:43:09Z</dcterms:created>
  <dcterms:modified xsi:type="dcterms:W3CDTF">2026-08-28T10:43:09Z</dcterms:modified>
</cp:coreProperties>
</file>